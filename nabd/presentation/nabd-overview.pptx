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نبض ليس لوحة أرقام جديدة. هو نظام يقول للتاجر: هذه أهم فرصة لديك، سببها، ماذا تفعل، وسنقيس النتيجة معك.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الجملة المفتاحية: نبض يعمل كمدير نمو رقمي للمتجر.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المثال يوضح الحلقة كاملة: فرصة، سبب، إجراء، تجربة، ونتيجة مقاسة بصدق مقارنة بمجموعة لم تستلم الرسالة.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548640"/>
            <a:ext cx="822960" cy="82296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6370" y="7626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743200" y="15544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</a:t>
            </a:r>
            <a:endParaRPr lang="ar-SA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BFE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اعرف أين تضيع مبيعاتك... وماذا تفعل الآن</a:t>
            </a:r>
            <a:endParaRPr lang="ar-SA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مدير نمو رقمي لمتاجر سلة: يكتشف الفرص، ينصح بالإجراء، ويقيس النتيجة</a:t>
            </a:r>
            <a:endParaRPr lang="ar-SA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7FA3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الفكرة | سبتمبر 2026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التاجر عنده بيانات كثيرة، لكنه لا يعرف ماذا يفعل بها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09560" y="1691640"/>
            <a:ext cx="548640" cy="54864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2206" y="18342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92040" y="17190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الرقم المهم فعلًا؟</a:t>
            </a:r>
            <a:endParaRPr lang="ar-SA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148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عشرات التقارير، ولا أحد يقول له ما الذي يستحق انتباهه اليوم</a:t>
            </a:r>
            <a:endParaRPr lang="ar-SA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03320" y="1691640"/>
            <a:ext cx="548640" cy="54864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66" y="18342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17190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انخفضت المبيعات؟</a:t>
            </a:r>
            <a:endParaRPr lang="ar-SA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2148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السعر؟ المخزون؟ الصفحة؟ الموسم؟ لا يوجد تفسير</a:t>
            </a:r>
            <a:endParaRPr lang="ar-SA" sz="1250" dirty="0"/>
          </a:p>
        </p:txBody>
      </p:sp>
      <p:sp>
        <p:nvSpPr>
          <p:cNvPr id="14" name="Shape 10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0" y="3291840"/>
            <a:ext cx="548640" cy="54864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2206" y="3434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33192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أفعل الآن؟</a:t>
            </a:r>
            <a:endParaRPr lang="ar-SA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الأرقام لا تتحول إلى قرار أو خطوة واضحة</a:t>
            </a:r>
            <a:endParaRPr lang="ar-SA" sz="125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03320" y="3291840"/>
            <a:ext cx="548640" cy="54864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66" y="34344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" y="33192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التغيير نجح؟</a:t>
            </a:r>
            <a:endParaRPr lang="ar-SA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يجرب خصمًا أو عرضًا، ثم لا يعرف هل كان مفيدًا أم ضارًا</a:t>
            </a:r>
            <a:endParaRPr lang="ar-SA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"هذه أرقام متجرك" إلى "هذا ما تفعله الآن"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الأدوات الحالية</a:t>
            </a:r>
            <a:endParaRPr lang="ar-SA" sz="1600" dirty="0"/>
          </a:p>
        </p:txBody>
      </p:sp>
      <p:sp>
        <p:nvSpPr>
          <p:cNvPr id="6" name="Shape 4"/>
          <p:cNvSpPr/>
          <p:nvPr/>
        </p:nvSpPr>
        <p:spPr>
          <a:xfrm>
            <a:off x="8330184" y="2240280"/>
            <a:ext cx="128016" cy="128016"/>
          </a:xfrm>
          <a:prstGeom prst="ellipse">
            <a:avLst/>
          </a:prstGeom>
          <a:solidFill>
            <a:srgbClr val="7A8A84"/>
          </a:solidFill>
          <a:ln w="12700">
            <a:solidFill>
              <a:srgbClr val="7A8A8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2148840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رسوم بيانية وتقارير</a:t>
            </a:r>
            <a:endParaRPr lang="ar-SA" sz="1400" dirty="0"/>
          </a:p>
        </p:txBody>
      </p:sp>
      <p:sp>
        <p:nvSpPr>
          <p:cNvPr id="8" name="Shape 6"/>
          <p:cNvSpPr/>
          <p:nvPr/>
        </p:nvSpPr>
        <p:spPr>
          <a:xfrm>
            <a:off x="8330184" y="2660904"/>
            <a:ext cx="128016" cy="128016"/>
          </a:xfrm>
          <a:prstGeom prst="ellipse">
            <a:avLst/>
          </a:prstGeom>
          <a:solidFill>
            <a:srgbClr val="7A8A84"/>
          </a:solidFill>
          <a:ln w="12700">
            <a:solidFill>
              <a:srgbClr val="7A8A8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2569464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التاجر يحلل بنفسه</a:t>
            </a:r>
            <a:endParaRPr lang="ar-SA" sz="1400" dirty="0"/>
          </a:p>
        </p:txBody>
      </p:sp>
      <p:sp>
        <p:nvSpPr>
          <p:cNvPr id="10" name="Shape 8"/>
          <p:cNvSpPr/>
          <p:nvPr/>
        </p:nvSpPr>
        <p:spPr>
          <a:xfrm>
            <a:off x="8330184" y="3081528"/>
            <a:ext cx="128016" cy="128016"/>
          </a:xfrm>
          <a:prstGeom prst="ellipse">
            <a:avLst/>
          </a:prstGeom>
          <a:solidFill>
            <a:srgbClr val="7A8A84"/>
          </a:solidFill>
          <a:ln w="12700">
            <a:solidFill>
              <a:srgbClr val="7A8A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299008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تقول ماذا يفعل</a:t>
            </a:r>
            <a:endParaRPr lang="ar-SA" sz="1400" dirty="0"/>
          </a:p>
        </p:txBody>
      </p:sp>
      <p:sp>
        <p:nvSpPr>
          <p:cNvPr id="12" name="Shape 10"/>
          <p:cNvSpPr/>
          <p:nvPr/>
        </p:nvSpPr>
        <p:spPr>
          <a:xfrm>
            <a:off x="8330184" y="3502152"/>
            <a:ext cx="128016" cy="128016"/>
          </a:xfrm>
          <a:prstGeom prst="ellipse">
            <a:avLst/>
          </a:prstGeom>
          <a:solidFill>
            <a:srgbClr val="7A8A84"/>
          </a:solidFill>
          <a:ln w="12700">
            <a:solidFill>
              <a:srgbClr val="7A8A8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410712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تقيس نتيجة أي تغيير</a:t>
            </a:r>
            <a:endParaRPr lang="ar-SA" sz="1400" dirty="0"/>
          </a:p>
        </p:txBody>
      </p:sp>
      <p:sp>
        <p:nvSpPr>
          <p:cNvPr id="14" name="Shape 12"/>
          <p:cNvSpPr/>
          <p:nvPr/>
        </p:nvSpPr>
        <p:spPr>
          <a:xfrm>
            <a:off x="8330184" y="3922776"/>
            <a:ext cx="128016" cy="128016"/>
          </a:xfrm>
          <a:prstGeom prst="ellipse">
            <a:avLst/>
          </a:prstGeom>
          <a:solidFill>
            <a:srgbClr val="7A8A84"/>
          </a:solidFill>
          <a:ln w="12700">
            <a:solidFill>
              <a:srgbClr val="7A8A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3831336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تتذكر ما جُرّب سابقًا</a:t>
            </a:r>
            <a:endParaRPr lang="ar-SA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146304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</a:t>
            </a:r>
            <a:endParaRPr lang="ar-SA" sz="1600" dirty="0"/>
          </a:p>
        </p:txBody>
      </p:sp>
      <p:sp>
        <p:nvSpPr>
          <p:cNvPr id="18" name="Shape 16"/>
          <p:cNvSpPr/>
          <p:nvPr/>
        </p:nvSpPr>
        <p:spPr>
          <a:xfrm>
            <a:off x="4123944" y="2240280"/>
            <a:ext cx="128016" cy="128016"/>
          </a:xfrm>
          <a:prstGeom prst="ellipse">
            <a:avLst/>
          </a:prstGeom>
          <a:solidFill>
            <a:srgbClr val="BFE3D6"/>
          </a:solidFill>
          <a:ln w="12700">
            <a:solidFill>
              <a:srgbClr val="BFE3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2148840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فرصة اليوم، مرتبة بالأولوية</a:t>
            </a:r>
            <a:endParaRPr lang="ar-SA" sz="1400" dirty="0"/>
          </a:p>
        </p:txBody>
      </p:sp>
      <p:sp>
        <p:nvSpPr>
          <p:cNvPr id="20" name="Shape 18"/>
          <p:cNvSpPr/>
          <p:nvPr/>
        </p:nvSpPr>
        <p:spPr>
          <a:xfrm>
            <a:off x="4123944" y="2660904"/>
            <a:ext cx="128016" cy="128016"/>
          </a:xfrm>
          <a:prstGeom prst="ellipse">
            <a:avLst/>
          </a:prstGeom>
          <a:solidFill>
            <a:srgbClr val="BFE3D6"/>
          </a:solidFill>
          <a:ln w="12700">
            <a:solidFill>
              <a:srgbClr val="BFE3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2569464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السبب، مع الدليل من بيانات المتجر</a:t>
            </a:r>
            <a:endParaRPr lang="ar-SA" sz="1400" dirty="0"/>
          </a:p>
        </p:txBody>
      </p:sp>
      <p:sp>
        <p:nvSpPr>
          <p:cNvPr id="22" name="Shape 20"/>
          <p:cNvSpPr/>
          <p:nvPr/>
        </p:nvSpPr>
        <p:spPr>
          <a:xfrm>
            <a:off x="4123944" y="3081528"/>
            <a:ext cx="128016" cy="128016"/>
          </a:xfrm>
          <a:prstGeom prst="ellipse">
            <a:avLst/>
          </a:prstGeom>
          <a:solidFill>
            <a:srgbClr val="BFE3D6"/>
          </a:solidFill>
          <a:ln w="12700">
            <a:solidFill>
              <a:srgbClr val="BF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299008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الإجراء المقترح، جاهز للتنفيذ</a:t>
            </a:r>
            <a:endParaRPr lang="ar-SA" sz="1400" dirty="0"/>
          </a:p>
        </p:txBody>
      </p:sp>
      <p:sp>
        <p:nvSpPr>
          <p:cNvPr id="24" name="Shape 22"/>
          <p:cNvSpPr/>
          <p:nvPr/>
        </p:nvSpPr>
        <p:spPr>
          <a:xfrm>
            <a:off x="4123944" y="3502152"/>
            <a:ext cx="128016" cy="128016"/>
          </a:xfrm>
          <a:prstGeom prst="ellipse">
            <a:avLst/>
          </a:prstGeom>
          <a:solidFill>
            <a:srgbClr val="BFE3D6"/>
          </a:solidFill>
          <a:ln w="12700">
            <a:solidFill>
              <a:srgbClr val="BFE3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410712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تقيس النتيجة الفعلية</a:t>
            </a:r>
            <a:endParaRPr lang="ar-SA" sz="1400" dirty="0"/>
          </a:p>
        </p:txBody>
      </p:sp>
      <p:sp>
        <p:nvSpPr>
          <p:cNvPr id="26" name="Shape 24"/>
          <p:cNvSpPr/>
          <p:nvPr/>
        </p:nvSpPr>
        <p:spPr>
          <a:xfrm>
            <a:off x="4123944" y="3922776"/>
            <a:ext cx="128016" cy="128016"/>
          </a:xfrm>
          <a:prstGeom prst="ellipse">
            <a:avLst/>
          </a:prstGeom>
          <a:solidFill>
            <a:srgbClr val="BFE3D6"/>
          </a:solidFill>
          <a:ln w="12700">
            <a:solidFill>
              <a:srgbClr val="BFE3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3831336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تجعل التوصية القادمة أذكى</a:t>
            </a:r>
            <a:endParaRPr lang="ar-SA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يعمل نبض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نمو مستمرة: كل تجربة تجعل النظام يفهم المتجر أكثر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7733211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3407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504611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يراقب</a:t>
            </a:r>
            <a:endParaRPr lang="ar-SA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504611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المتجر من سلة</a:t>
            </a:r>
            <a:endParaRPr lang="ar-SA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415" y="1993392"/>
            <a:ext cx="219456" cy="21945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57554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749" y="1927555"/>
            <a:ext cx="351130" cy="3511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28954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يكتشف</a:t>
            </a:r>
            <a:endParaRPr lang="ar-SA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328954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 والمشاكل</a:t>
            </a:r>
            <a:endParaRPr lang="ar-SA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758" y="1993392"/>
            <a:ext cx="219456" cy="219456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381897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092" y="1927555"/>
            <a:ext cx="351130" cy="35113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153297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يشرح</a:t>
            </a:r>
            <a:endParaRPr lang="ar-SA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5153297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السبب بلغة بسيطة</a:t>
            </a:r>
            <a:endParaRPr lang="ar-SA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0101" y="1993392"/>
            <a:ext cx="219456" cy="21945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206240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6435" y="1927555"/>
            <a:ext cx="351130" cy="35113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3977640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ينصح</a:t>
            </a:r>
            <a:endParaRPr lang="ar-SA" sz="1500" dirty="0"/>
          </a:p>
        </p:txBody>
      </p:sp>
      <p:sp>
        <p:nvSpPr>
          <p:cNvPr id="22" name="Text 13"/>
          <p:cNvSpPr txBox="1"/>
          <p:nvPr/>
        </p:nvSpPr>
        <p:spPr>
          <a:xfrm>
            <a:off x="3977640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بإجراء محدد</a:t>
            </a:r>
            <a:endParaRPr lang="ar-SA" sz="11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443" y="1993392"/>
            <a:ext cx="219456" cy="219456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3030583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0778" y="1927555"/>
            <a:ext cx="351130" cy="35113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2801983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ينفّذ</a:t>
            </a:r>
            <a:endParaRPr lang="ar-SA" sz="1500" dirty="0"/>
          </a:p>
        </p:txBody>
      </p:sp>
      <p:sp>
        <p:nvSpPr>
          <p:cNvPr id="27" name="Text 16"/>
          <p:cNvSpPr txBox="1"/>
          <p:nvPr/>
        </p:nvSpPr>
        <p:spPr>
          <a:xfrm>
            <a:off x="2801983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بضغطة</a:t>
            </a:r>
            <a:endParaRPr lang="ar-SA" sz="11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86" y="1993392"/>
            <a:ext cx="219456" cy="219456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1854926" y="173736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45121" y="1927555"/>
            <a:ext cx="351130" cy="351130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1626326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يقيس</a:t>
            </a:r>
            <a:endParaRPr lang="ar-SA" sz="1500" dirty="0"/>
          </a:p>
        </p:txBody>
      </p:sp>
      <p:sp>
        <p:nvSpPr>
          <p:cNvPr id="32" name="Text 19"/>
          <p:cNvSpPr txBox="1"/>
          <p:nvPr/>
        </p:nvSpPr>
        <p:spPr>
          <a:xfrm>
            <a:off x="1626326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الفعلية</a:t>
            </a:r>
            <a:endParaRPr lang="ar-SA" sz="11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3129" y="1993392"/>
            <a:ext cx="219456" cy="219456"/>
          </a:xfrm>
          <a:prstGeom prst="rect">
            <a:avLst/>
          </a:prstGeom>
        </p:spPr>
      </p:pic>
      <p:sp>
        <p:nvSpPr>
          <p:cNvPr id="34" name="Shape 20"/>
          <p:cNvSpPr/>
          <p:nvPr/>
        </p:nvSpPr>
        <p:spPr>
          <a:xfrm>
            <a:off x="679269" y="1737360"/>
            <a:ext cx="731520" cy="731520"/>
          </a:xfrm>
          <a:prstGeom prst="ellipse">
            <a:avLst/>
          </a:prstGeom>
          <a:solidFill>
            <a:srgbClr val="A8660F"/>
          </a:solidFill>
          <a:ln w="12700">
            <a:solidFill>
              <a:srgbClr val="A8660F"/>
            </a:solidFill>
            <a:prstDash val="solid"/>
          </a:ln>
        </p:spPr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9464" y="1927555"/>
            <a:ext cx="351130" cy="351130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450669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يتعلم</a:t>
            </a:r>
            <a:endParaRPr lang="ar-SA" sz="1500" dirty="0"/>
          </a:p>
        </p:txBody>
      </p:sp>
      <p:sp>
        <p:nvSpPr>
          <p:cNvPr id="37" name="Text 22"/>
          <p:cNvSpPr txBox="1"/>
          <p:nvPr/>
        </p:nvSpPr>
        <p:spPr>
          <a:xfrm>
            <a:off x="450669" y="29718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ويحفظها في الذاكرة</a:t>
            </a:r>
            <a:endParaRPr lang="ar-SA" sz="1100" dirty="0"/>
          </a:p>
        </p:txBody>
      </p:sp>
      <p:sp>
        <p:nvSpPr>
          <p:cNvPr id="38" name="Shape 23"/>
          <p:cNvSpPr/>
          <p:nvPr/>
        </p:nvSpPr>
        <p:spPr>
          <a:xfrm>
            <a:off x="914400" y="384048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39" name="Text 24"/>
          <p:cNvSpPr txBox="1"/>
          <p:nvPr/>
        </p:nvSpPr>
        <p:spPr>
          <a:xfrm>
            <a:off x="1097280" y="396849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الأرقام تُحسب برمجيًا بدقة، والذكاء الاصطناعي يشرح فقط ولا يخترع أي رقم</a:t>
            </a:r>
            <a:endParaRPr lang="ar-SA" sz="1250" dirty="0"/>
          </a:p>
        </p:txBody>
      </p:sp>
      <p:sp>
        <p:nvSpPr>
          <p:cNvPr id="40" name="Text 2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41" name="Text 26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مثال: ماذا يرى التاجر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فرصة حقيقية الشكل من بيانات متجر عطور (أرقام توضيحية)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32918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91840" y="1417320"/>
            <a:ext cx="5394960" cy="457200"/>
          </a:xfrm>
          <a:prstGeom prst="roundRect">
            <a:avLst>
              <a:gd name="adj" fmla="val 24000"/>
            </a:avLst>
          </a:prstGeom>
          <a:solidFill>
            <a:srgbClr val="F8EAD3"/>
          </a:solidFill>
          <a:ln w="12700">
            <a:solidFill>
              <a:srgbClr val="F8E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1499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A86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فرصة الآن  |  أولوية عالية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011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عميلًا اشتروا قبل 2–4 أشهر ولم يعودوا</a:t>
            </a:r>
            <a:endParaRPr lang="ar-SA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68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لماذا؟ هذه الشريحة كانت تمثل 18% من الإيراد في الربع الماضي.</a:t>
            </a:r>
            <a:endParaRPr lang="ar-SA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الإجراء: رسالة + كوبون، مع مجموعة ضابطة 20% لا تستلم الرسالة</a:t>
            </a:r>
            <a:endParaRPr lang="ar-SA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المحتمل: 800 – 2,500 ريال/شهر (تقدير، وليس وعدًا)</a:t>
            </a:r>
            <a:endParaRPr lang="ar-SA" sz="1400" dirty="0"/>
          </a:p>
        </p:txBody>
      </p:sp>
      <p:sp>
        <p:nvSpPr>
          <p:cNvPr id="11" name="Shape 9"/>
          <p:cNvSpPr/>
          <p:nvPr/>
        </p:nvSpPr>
        <p:spPr>
          <a:xfrm>
            <a:off x="6675120" y="374904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3831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ابدأ التجربة</a:t>
            </a:r>
            <a:endParaRPr lang="ar-SA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14 يومًا</a:t>
            </a:r>
            <a:endParaRPr lang="ar-SA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600" b="1" dirty="0">
                <a:solidFill>
                  <a:srgbClr val="237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7.9%</a:t>
            </a:r>
            <a:endParaRPr lang="ar-SA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عادوا للشراء ممن استلموا الرسالة</a:t>
            </a:r>
            <a:endParaRPr lang="ar-SA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2.1%</a:t>
            </a:r>
            <a:endParaRPr lang="ar-SA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المجموعة الضابطة</a:t>
            </a:r>
            <a:endParaRPr lang="ar-SA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237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+1,940 ريال مقاسة</a:t>
            </a:r>
            <a:endParaRPr lang="ar-SA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داخل المنتج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بسيطة جدًا، وكل شاشة تجيب عن سؤال واحد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062472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01000" y="164592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1759" y="177667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45352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الرئيسية</a:t>
            </a:r>
            <a:endParaRPr lang="ar-SA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45352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اليوم + أهم فرصة + تنبيه + مهمة اليوم</a:t>
            </a:r>
            <a:endParaRPr lang="ar-SA" sz="1150" dirty="0"/>
          </a:p>
        </p:txBody>
      </p:sp>
      <p:sp>
        <p:nvSpPr>
          <p:cNvPr id="9" name="Shape 6"/>
          <p:cNvSpPr/>
          <p:nvPr/>
        </p:nvSpPr>
        <p:spPr>
          <a:xfrm>
            <a:off x="3255264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193792" y="164592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551" y="177667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38144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</a:t>
            </a:r>
            <a:endParaRPr lang="ar-SA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38144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مرتبة: الدليل، الأثر، الثقة، الجهد</a:t>
            </a:r>
            <a:endParaRPr lang="ar-SA" sz="1150" dirty="0"/>
          </a:p>
        </p:txBody>
      </p:sp>
      <p:sp>
        <p:nvSpPr>
          <p:cNvPr id="14" name="Shape 10"/>
          <p:cNvSpPr/>
          <p:nvPr/>
        </p:nvSpPr>
        <p:spPr>
          <a:xfrm>
            <a:off x="448056" y="146304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386584" y="164592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343" y="177667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" y="1719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</a:t>
            </a:r>
            <a:endParaRPr lang="ar-SA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0936" y="219456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فرضية، قياس قبل وبعد، ثم قرار</a:t>
            </a:r>
            <a:endParaRPr lang="ar-SA" sz="1150" dirty="0"/>
          </a:p>
        </p:txBody>
      </p:sp>
      <p:sp>
        <p:nvSpPr>
          <p:cNvPr id="19" name="Shape 14"/>
          <p:cNvSpPr/>
          <p:nvPr/>
        </p:nvSpPr>
        <p:spPr>
          <a:xfrm>
            <a:off x="6062472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01000" y="320040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759" y="333115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45352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المتجر</a:t>
            </a:r>
            <a:endParaRPr lang="ar-SA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245352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التغييرات والتجارب وما نجح وما فشل</a:t>
            </a:r>
            <a:endParaRPr lang="ar-SA" sz="1150" dirty="0"/>
          </a:p>
        </p:txBody>
      </p:sp>
      <p:sp>
        <p:nvSpPr>
          <p:cNvPr id="24" name="Shape 18"/>
          <p:cNvSpPr/>
          <p:nvPr/>
        </p:nvSpPr>
        <p:spPr>
          <a:xfrm>
            <a:off x="3255264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193792" y="320040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551" y="333115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438144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التقرير الأسبوعي</a:t>
            </a:r>
            <a:endParaRPr lang="ar-SA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3438144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ملخص مفهوم لغير التقني + خطة الأسبوع</a:t>
            </a:r>
            <a:endParaRPr lang="ar-SA" sz="1150" dirty="0"/>
          </a:p>
        </p:txBody>
      </p:sp>
      <p:sp>
        <p:nvSpPr>
          <p:cNvPr id="29" name="Shape 22"/>
          <p:cNvSpPr/>
          <p:nvPr/>
        </p:nvSpPr>
        <p:spPr>
          <a:xfrm>
            <a:off x="448056" y="3017520"/>
            <a:ext cx="2624328" cy="13716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2386584" y="320040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7343" y="333115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30936" y="32735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الوكالات</a:t>
            </a:r>
            <a:endParaRPr lang="ar-SA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30936" y="3749040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مدير الحساب يرى كل متاجره وحالتها</a:t>
            </a:r>
            <a:endParaRPr lang="ar-SA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نبدأ بسلة، أكبر منصة تجارة إلكترونية في السعودية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062472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45352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ألف+</a:t>
            </a:r>
            <a:endParaRPr lang="ar-SA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245352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تاجر نشط على سلة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3255264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38144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مليار $+</a:t>
            </a:r>
            <a:endParaRPr lang="ar-SA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38144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مبيعات عبر المنصة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448056" y="1463040"/>
            <a:ext cx="2624328" cy="155448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" y="169164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7–13 ألف</a:t>
            </a:r>
            <a:endParaRPr lang="ar-SA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" y="237744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متجر في الشريحة المستهدفة (تقدير)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المستهدف: متاجر بين 100 و3,000 طلب شهريًا. عندها بيانات كافية، وتستطيع الدفع.</a:t>
            </a:r>
            <a:endParaRPr lang="ar-SA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مُثبتة عالميًا: شوبيفاي أطلقت ميزة مشابهة (Sidekick Pulse) في ديسمبر 2025. لا يوجد منتج مماثل مبني لسلة وللسوق السعودي.</a:t>
            </a:r>
            <a:endParaRPr lang="ar-SA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صفحة سلة الرسمية 2025. تقدير الشريحة افتراض يحتاج تأكيدًا من سلة.</a:t>
            </a:r>
            <a:endParaRPr lang="ar-SA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نبض مختلف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التوصيات وحدها ستصبح مجانية. ميزتنا فيما لا يُنسخ بسهولة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0" y="169164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6039" y="182239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9204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 والذاكرة</a:t>
            </a:r>
            <a:endParaRPr lang="ar-S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1488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تجربة منتهية بيانات خاصة بالمتجر لا يملكها غيرنا، وتجعل النصيحة القادمة أدق</a:t>
            </a:r>
            <a:endParaRPr lang="ar-SA" sz="115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49040" y="169164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799" y="182239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قناة الوكالات</a:t>
            </a:r>
            <a:endParaRPr lang="ar-SA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21488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لمدير الحساب تجعل نبض أداة عمل يومية للوكالات مثل خبراء المنصات</a:t>
            </a:r>
            <a:endParaRPr lang="ar-SA" sz="1150" dirty="0"/>
          </a:p>
        </p:txBody>
      </p:sp>
      <p:sp>
        <p:nvSpPr>
          <p:cNvPr id="14" name="Shape 10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0" y="329184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039" y="342259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مقارنات سعودية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3749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مقارنة أداء المتجر بمتاجر مشابهة في نفس الفئة داخل السوق السعودي</a:t>
            </a:r>
            <a:endParaRPr lang="ar-SA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49040" y="3291840"/>
            <a:ext cx="502920" cy="502920"/>
          </a:xfrm>
          <a:prstGeom prst="ellipse">
            <a:avLst/>
          </a:prstGeom>
          <a:solidFill>
            <a:srgbClr val="DCEDE6"/>
          </a:solidFill>
          <a:ln w="12700">
            <a:solidFill>
              <a:srgbClr val="DCEDE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9799" y="342259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محلي</a:t>
            </a:r>
            <a:endParaRPr lang="ar-SA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749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الراتب، رمضان، العيد، اليوم الوطني، الجمعة البيضاء، الدفع عند الاستلام</a:t>
            </a:r>
            <a:endParaRPr lang="ar-SA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الربح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اشتراك شهري حسب حجم المتجر (أسعار مبدئية للاختبار)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4F7F5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ar-SA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</a:t>
            </a:r>
            <a:endParaRPr lang="ar-SA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300 طلب/شهر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ar-SA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</a:t>
            </a:r>
            <a:endParaRPr lang="ar-SA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CFE8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1,500 طلب/شهر</a:t>
            </a:r>
            <a:endParaRPr lang="ar-SA" sz="1100" dirty="0"/>
          </a:p>
        </p:txBody>
      </p:sp>
      <p:sp>
        <p:nvSpPr>
          <p:cNvPr id="14" name="Shape 12"/>
          <p:cNvSpPr/>
          <p:nvPr/>
        </p:nvSpPr>
        <p:spPr>
          <a:xfrm>
            <a:off x="25603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4F7F5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9748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ar-SA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799</a:t>
            </a:r>
            <a:endParaRPr lang="ar-SA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6,000 طلب/شهر</a:t>
            </a:r>
            <a:endParaRPr lang="ar-SA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4F7F5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1645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وكالات</a:t>
            </a:r>
            <a:endParaRPr lang="ar-SA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103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99–149</a:t>
            </a:r>
            <a:endParaRPr lang="ar-SA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شهريًا</a:t>
            </a:r>
            <a:endParaRPr lang="ar-SA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متجر، 10 متاجر فأكثر</a:t>
            </a:r>
            <a:endParaRPr lang="ar-SA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مجانية 14 يومًا. متجر بإيراد 150 ألف ريال شهريًا يدفع 0.23% من إيراده، وتجربة ناجحة واحدة تغطي الاشتراك عدة مرات.</a:t>
            </a:r>
            <a:endParaRPr lang="ar-SA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الخطة: 90 يومًا حتى الإطلاق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مرحلة لها شرط نجاح قبل الانتقال للتالية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874520"/>
            <a:ext cx="6583680" cy="0"/>
          </a:xfrm>
          <a:prstGeom prst="line">
            <a:avLst/>
          </a:prstGeom>
          <a:noFill/>
          <a:ln w="25400">
            <a:solidFill>
              <a:srgbClr val="D9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08392" y="1719072"/>
            <a:ext cx="310896" cy="310896"/>
          </a:xfrm>
          <a:prstGeom prst="ellipse">
            <a:avLst/>
          </a:prstGeom>
          <a:solidFill>
            <a:srgbClr val="1D6B5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8660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1–2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التحقق</a:t>
            </a:r>
            <a:endParaRPr lang="ar-SA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تقارير يدوية لـ 10 متاجر. هل ينفذون؟ هل سيدفعون؟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6062472" y="1719072"/>
            <a:ext cx="310896" cy="310896"/>
          </a:xfrm>
          <a:prstGeom prst="ellipse">
            <a:avLst/>
          </a:prstGeom>
          <a:solidFill>
            <a:srgbClr val="1D6B5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068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3–5</a:t>
            </a:r>
            <a:endParaRPr lang="ar-SA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 البيانات</a:t>
            </a:r>
            <a:endParaRPr lang="ar-SA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الربط مع سلة، واستيراد البيانات، ومطابقة الأرقام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4416552" y="1719072"/>
            <a:ext cx="310896" cy="310896"/>
          </a:xfrm>
          <a:prstGeom prst="ellipse">
            <a:avLst/>
          </a:prstGeom>
          <a:solidFill>
            <a:srgbClr val="1D6B5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9476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6–8</a:t>
            </a:r>
            <a:endParaRPr lang="ar-SA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الفرص</a:t>
            </a:r>
            <a:endParaRPr lang="ar-SA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اكتشاف الفرص، الشرح، والواجهة الأولى</a:t>
            </a:r>
            <a:endParaRPr lang="ar-SA" sz="1100" dirty="0"/>
          </a:p>
        </p:txBody>
      </p:sp>
      <p:sp>
        <p:nvSpPr>
          <p:cNvPr id="17" name="Shape 15"/>
          <p:cNvSpPr/>
          <p:nvPr/>
        </p:nvSpPr>
        <p:spPr>
          <a:xfrm>
            <a:off x="2770632" y="1719072"/>
            <a:ext cx="310896" cy="310896"/>
          </a:xfrm>
          <a:prstGeom prst="ellipse">
            <a:avLst/>
          </a:prstGeom>
          <a:solidFill>
            <a:srgbClr val="1D6B5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9–11</a:t>
            </a:r>
            <a:endParaRPr lang="ar-SA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الحلقة كاملة</a:t>
            </a:r>
            <a:endParaRPr lang="ar-SA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14884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التجارب، التقرير الأسبوعي، لوحة الوكالات، تجربة مغلقة لـ 30 متجرًا</a:t>
            </a:r>
            <a:endParaRPr lang="ar-SA" sz="1100" dirty="0"/>
          </a:p>
        </p:txBody>
      </p:sp>
      <p:sp>
        <p:nvSpPr>
          <p:cNvPr id="21" name="Shape 19"/>
          <p:cNvSpPr/>
          <p:nvPr/>
        </p:nvSpPr>
        <p:spPr>
          <a:xfrm>
            <a:off x="1124712" y="1719072"/>
            <a:ext cx="310896" cy="310896"/>
          </a:xfrm>
          <a:prstGeom prst="ellipse">
            <a:avLst/>
          </a:prstGeom>
          <a:solidFill>
            <a:srgbClr val="A866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12–13</a:t>
            </a:r>
            <a:endParaRPr lang="ar-SA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الإطلاق</a:t>
            </a:r>
            <a:endParaRPr lang="ar-SA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26060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النشر في متجر تطبيقات سلة</a:t>
            </a:r>
            <a:endParaRPr lang="ar-SA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EAD3"/>
          </a:solidFill>
          <a:ln w="12700">
            <a:solidFill>
              <a:srgbClr val="F8EAD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0416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A86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البداية: إذا لم ينفذ 3 من كل 10 متاجر توصية واحدة على الأقل، نراجع القيمة قبل كتابة الكود</a:t>
            </a:r>
            <a:endParaRPr lang="ar-SA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الوصول لأول 100 متجر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نبدأ من قناة الوكالات لأنها الأسرع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0372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شركاء التصميم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عملاء خبراء المنصات، مجانًا مقابل ملاحظات أسبوعية</a:t>
            </a:r>
            <a:endParaRPr lang="ar-SA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006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</a:t>
            </a:r>
            <a:endParaRPr lang="ar-SA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مغلقة</a:t>
            </a:r>
            <a:endParaRPr lang="ar-S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محفظة الوكالة وإحالات الشركاء الأوائل</a:t>
            </a:r>
            <a:endParaRPr lang="ar-SA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30–40</a:t>
            </a:r>
            <a:endParaRPr lang="ar-SA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متجر تطبيقات سلة</a:t>
            </a:r>
            <a:endParaRPr lang="ar-SA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صفحة عربية قوية ولقطات لفرص حقيقية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4630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1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9436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D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</a:t>
            </a:r>
            <a:endParaRPr lang="ar-SA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وكالات أخرى</a:t>
            </a:r>
            <a:endParaRPr lang="ar-SA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7432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 وكالة مجاني لأول 3 أشهر</a:t>
            </a:r>
            <a:endParaRPr lang="ar-SA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5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أول إيراد: عقد مع الوكالة تبيع فيه "متابعة نمو شهرية" لعملائها، وتدفع لنبض لكل متجر. الهدف 15–25 متجرًا مدفوعًا قبل الإطلاق العام.</a:t>
            </a:r>
            <a:endParaRPr lang="ar-SA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 وكيف نتعامل معها</a:t>
            </a:r>
            <a:endParaRPr lang="ar-SA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نعرفها من الآن حتى لا تفاجئنا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7F5"/>
          </a:solidFill>
          <a:ln w="12700">
            <a:solidFill>
              <a:srgbClr val="D9E1D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618488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قد تبني ميزة مشابهة</a:t>
            </a:r>
            <a:endParaRPr lang="ar-SA" sz="13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6184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15361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نركز على التجارب والذاكرة والوكالات، ونكون شريكًا في متجر التطبيقات</a:t>
            </a:r>
            <a:endParaRPr lang="ar-SA" sz="1150" dirty="0"/>
          </a:p>
        </p:txBody>
      </p:sp>
      <p:sp>
        <p:nvSpPr>
          <p:cNvPr id="9" name="Shape 5"/>
          <p:cNvSpPr/>
          <p:nvPr/>
        </p:nvSpPr>
        <p:spPr>
          <a:xfrm>
            <a:off x="457200" y="21945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E1DC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39572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يتحول المنتج إلى لوحة أرقام أخرى</a:t>
            </a:r>
            <a:endParaRPr lang="ar-SA" sz="13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395728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23134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رقم في الرئيسية بدون إجراء مرتبط به. نقيس الإجراءات المنفذة لا الزيارات</a:t>
            </a:r>
            <a:endParaRPr lang="ar-SA" sz="1150" dirty="0"/>
          </a:p>
        </p:txBody>
      </p:sp>
      <p:sp>
        <p:nvSpPr>
          <p:cNvPr id="14" name="Shape 8"/>
          <p:cNvSpPr/>
          <p:nvPr/>
        </p:nvSpPr>
        <p:spPr>
          <a:xfrm>
            <a:off x="457200" y="29718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7F5"/>
          </a:solidFill>
          <a:ln w="12700">
            <a:solidFill>
              <a:srgbClr val="D9E1DC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172968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9377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لا توفر بيانات الزيارات</a:t>
            </a:r>
            <a:endParaRPr lang="ar-SA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317296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0080" y="309067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قياس خفيفة في المتجر، أو ربط Google Analytics</a:t>
            </a:r>
            <a:endParaRPr lang="ar-SA" sz="1150" dirty="0"/>
          </a:p>
        </p:txBody>
      </p:sp>
      <p:sp>
        <p:nvSpPr>
          <p:cNvPr id="19" name="Shape 11"/>
          <p:cNvSpPr/>
          <p:nvPr/>
        </p:nvSpPr>
        <p:spPr>
          <a:xfrm>
            <a:off x="457200" y="374904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E1DC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395020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93776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12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المتاجر الصغيرة بياناتها قليلة</a:t>
            </a:r>
            <a:endParaRPr lang="ar-SA" sz="13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950208"/>
            <a:ext cx="256032" cy="256032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40080" y="3867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4A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 أدنى للبيانات، ونقول بصراحة: "البيانات لا تكفي بعد"</a:t>
            </a:r>
            <a:endParaRPr lang="ar-SA" sz="1150" dirty="0"/>
          </a:p>
        </p:txBody>
      </p:sp>
      <p:sp>
        <p:nvSpPr>
          <p:cNvPr id="24" name="Text 1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| NABD</a:t>
            </a:r>
            <a:endParaRPr lang="ar-SA" sz="900" dirty="0"/>
          </a:p>
        </p:txBody>
      </p:sp>
      <p:sp>
        <p:nvSpPr>
          <p:cNvPr id="25" name="Text 15"/>
          <p:cNvSpPr txBox="1"/>
          <p:nvPr/>
        </p:nvSpPr>
        <p:spPr>
          <a:xfrm>
            <a:off x="4572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548640"/>
            <a:ext cx="731520" cy="731520"/>
          </a:xfrm>
          <a:prstGeom prst="ellipse">
            <a:avLst/>
          </a:prstGeom>
          <a:solidFill>
            <a:srgbClr val="1D6B58"/>
          </a:solidFill>
          <a:ln w="12700">
            <a:solidFill>
              <a:srgbClr val="1D6B5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403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6400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الخطوات التالية</a:t>
            </a:r>
            <a:endParaRPr lang="ar-SA" sz="3200" dirty="0"/>
          </a:p>
        </p:txBody>
      </p:sp>
      <p:sp>
        <p:nvSpPr>
          <p:cNvPr id="5" name="Shape 2"/>
          <p:cNvSpPr/>
          <p:nvPr/>
        </p:nvSpPr>
        <p:spPr>
          <a:xfrm>
            <a:off x="8467344" y="1691640"/>
            <a:ext cx="128016" cy="128016"/>
          </a:xfrm>
          <a:prstGeom prst="ellipse">
            <a:avLst/>
          </a:prstGeom>
          <a:solidFill>
            <a:srgbClr val="2E8A73"/>
          </a:solidFill>
          <a:ln w="12700">
            <a:solidFill>
              <a:srgbClr val="2E8A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D6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 حساب شركاء في سلة والتحقق من البيانات المتاحة</a:t>
            </a:r>
            <a:endParaRPr lang="ar-SA" sz="1600" dirty="0"/>
          </a:p>
        </p:txBody>
      </p:sp>
      <p:sp>
        <p:nvSpPr>
          <p:cNvPr id="7" name="Shape 4"/>
          <p:cNvSpPr/>
          <p:nvPr/>
        </p:nvSpPr>
        <p:spPr>
          <a:xfrm>
            <a:off x="8467344" y="2194560"/>
            <a:ext cx="128016" cy="128016"/>
          </a:xfrm>
          <a:prstGeom prst="ellipse">
            <a:avLst/>
          </a:prstGeom>
          <a:solidFill>
            <a:srgbClr val="2E8A73"/>
          </a:solidFill>
          <a:ln w="12700">
            <a:solidFill>
              <a:srgbClr val="2E8A7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103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D6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10 متاجر من عملاء خبراء المنصات كشركاء تصميم</a:t>
            </a:r>
            <a:endParaRPr lang="ar-SA" sz="1600" dirty="0"/>
          </a:p>
        </p:txBody>
      </p:sp>
      <p:sp>
        <p:nvSpPr>
          <p:cNvPr id="9" name="Shape 6"/>
          <p:cNvSpPr/>
          <p:nvPr/>
        </p:nvSpPr>
        <p:spPr>
          <a:xfrm>
            <a:off x="8467344" y="2697480"/>
            <a:ext cx="128016" cy="128016"/>
          </a:xfrm>
          <a:prstGeom prst="ellipse">
            <a:avLst/>
          </a:prstGeom>
          <a:solidFill>
            <a:srgbClr val="2E8A73"/>
          </a:solidFill>
          <a:ln w="12700">
            <a:solidFill>
              <a:srgbClr val="2E8A7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D6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تقارير نمو يدوية لمدة 3 أسابيع لقياس الاهتمام والاستعداد للدفع</a:t>
            </a:r>
            <a:endParaRPr lang="ar-SA" sz="1600" dirty="0"/>
          </a:p>
        </p:txBody>
      </p:sp>
      <p:sp>
        <p:nvSpPr>
          <p:cNvPr id="11" name="Shape 8"/>
          <p:cNvSpPr/>
          <p:nvPr/>
        </p:nvSpPr>
        <p:spPr>
          <a:xfrm>
            <a:off x="8467344" y="3200400"/>
            <a:ext cx="128016" cy="128016"/>
          </a:xfrm>
          <a:prstGeom prst="ellipse">
            <a:avLst/>
          </a:prstGeom>
          <a:solidFill>
            <a:srgbClr val="2E8A73"/>
          </a:solidFill>
          <a:ln w="12700">
            <a:solidFill>
              <a:srgbClr val="2E8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08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D6EA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 البدء في البناء بناءً على النتيجة</a:t>
            </a:r>
            <a:endParaRPr lang="ar-S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i="1" dirty="0">
                <a:solidFill>
                  <a:srgbClr val="BFE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"هل ساعد نبض التاجر على اتخاذ قرار أفضل بناءً على بيانات متجره؟" هذا هو مقياس النجاح.</a:t>
            </a:r>
            <a:endParaRPr lang="ar-SA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نبض — فكرة المنتج</dc:title>
  <dc:subject>PptxGenJS Presentation</dc:subject>
  <dc:creator>PptxGenJS</dc:creator>
  <cp:lastModifiedBy>PptxGenJS</cp:lastModifiedBy>
  <cp:revision>1</cp:revision>
  <dcterms:created xsi:type="dcterms:W3CDTF">2026-09-27T12:56:06Z</dcterms:created>
  <dcterms:modified xsi:type="dcterms:W3CDTF">2026-09-27T12:56:06Z</dcterms:modified>
</cp:coreProperties>
</file>