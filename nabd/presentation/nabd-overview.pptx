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نبض ليس لوحة أرقام جديدة. هو نظام يقول للتاجر: هذه أهم فرصة لديك، سببها، ماذا تفعل، وسنقيس النتيجة معك.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الجملة المفتاحية: نبض يعمل كمدير نمو رقمي للمتجر.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المثال يوضح الحلقة كاملة: فرصة، سبب، إجراء، تجربة، ونتيجة مقاسة بصدق مقارنة بمجموعة لم تستلم الرسالة.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المراحل الأولى صغيرة لأن كل طلب في البداية فرق كبير. الانتقال بين المراحل بعدد الطلبات الحقيقي من سلة، والنقاط للتحفيز.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548640"/>
            <a:ext cx="822960" cy="8229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6370" y="762610"/>
            <a:ext cx="395021" cy="395021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743200" y="15544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</a:t>
            </a:r>
            <a:endParaRPr lang="ar-SA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2560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4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اعرف أين تضيع مبيعاتك... وماذا تفعل الآن</a:t>
            </a:r>
            <a:endParaRPr lang="ar-SA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32004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 نمو رقمي لمتاجر سلة: يكتشف الفرص، ينصح بالإجراء، ويقيس النتيجة</a:t>
            </a:r>
            <a:endParaRPr lang="ar-SA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5029200" y="4480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عرض الفكرة | سبتمبر 2026</a:t>
            </a:r>
            <a:endParaRPr lang="ar-SA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المشكلة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التاجر عنده بيانات كثيرة، لكنه لا يعرف ماذا يفعل بها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14630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09560" y="1691640"/>
            <a:ext cx="548640" cy="5486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2206" y="18342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892040" y="1719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الرقم المهم فعلًا؟</a:t>
            </a:r>
            <a:endParaRPr lang="ar-SA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2148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عشرات التقارير، ولا أحد يقول له ما الذي يستحق انتباهه اليوم</a:t>
            </a:r>
            <a:endParaRPr lang="ar-SA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03320" y="1691640"/>
            <a:ext cx="548640" cy="5486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5966" y="1834286"/>
            <a:ext cx="263347" cy="26334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" y="17190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انخفضت المبيعات؟</a:t>
            </a:r>
            <a:endParaRPr lang="ar-SA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1488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السعر؟ المخزون؟ الصفحة؟ الموسم؟ لا يوجد تفسير</a:t>
            </a:r>
            <a:endParaRPr lang="ar-SA" sz="1250" dirty="0"/>
          </a:p>
        </p:txBody>
      </p:sp>
      <p:sp>
        <p:nvSpPr>
          <p:cNvPr id="14" name="Shape 10"/>
          <p:cNvSpPr/>
          <p:nvPr/>
        </p:nvSpPr>
        <p:spPr>
          <a:xfrm>
            <a:off x="4663440" y="30632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09560" y="3291840"/>
            <a:ext cx="548640" cy="5486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2206" y="3434486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92040" y="33192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ماذا أفعل الآن؟</a:t>
            </a:r>
            <a:endParaRPr lang="ar-SA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3749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الأرقام لا تتحول إلى قرار أو خطوة واضحة</a:t>
            </a:r>
            <a:endParaRPr lang="ar-SA" sz="125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703320" y="3291840"/>
            <a:ext cx="548640" cy="54864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5966" y="34344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5800" y="331927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التغيير نجح؟</a:t>
            </a:r>
            <a:endParaRPr lang="ar-SA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" y="374904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يجرب خصمًا أو عرضًا، ثم لا يعرف هل كان مفيدًا أم ضارًا</a:t>
            </a:r>
            <a:endParaRPr lang="ar-SA" sz="125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| NABD</a:t>
            </a:r>
            <a:endParaRPr lang="ar-SA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"هذه أرقام متجرك" إلى "هذا ما تفعله الآن"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146304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489204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الأدوات الحالية</a:t>
            </a:r>
            <a:endParaRPr lang="ar-SA" sz="1600" dirty="0"/>
          </a:p>
        </p:txBody>
      </p:sp>
      <p:sp>
        <p:nvSpPr>
          <p:cNvPr id="6" name="Shape 4"/>
          <p:cNvSpPr/>
          <p:nvPr/>
        </p:nvSpPr>
        <p:spPr>
          <a:xfrm>
            <a:off x="8330184" y="2240280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2148840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رسوم بيانية وتقارير</a:t>
            </a:r>
            <a:endParaRPr lang="ar-SA" sz="1400" dirty="0"/>
          </a:p>
        </p:txBody>
      </p:sp>
      <p:sp>
        <p:nvSpPr>
          <p:cNvPr id="8" name="Shape 6"/>
          <p:cNvSpPr/>
          <p:nvPr/>
        </p:nvSpPr>
        <p:spPr>
          <a:xfrm>
            <a:off x="8330184" y="2660904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892040" y="2569464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التاجر يحلل بنفسه</a:t>
            </a:r>
            <a:endParaRPr lang="ar-SA" sz="1400" dirty="0"/>
          </a:p>
        </p:txBody>
      </p:sp>
      <p:sp>
        <p:nvSpPr>
          <p:cNvPr id="10" name="Shape 8"/>
          <p:cNvSpPr/>
          <p:nvPr/>
        </p:nvSpPr>
        <p:spPr>
          <a:xfrm>
            <a:off x="8330184" y="3081528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92040" y="2990088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تقول ماذا يفعل</a:t>
            </a:r>
            <a:endParaRPr lang="ar-SA" sz="1400" dirty="0"/>
          </a:p>
        </p:txBody>
      </p:sp>
      <p:sp>
        <p:nvSpPr>
          <p:cNvPr id="12" name="Shape 10"/>
          <p:cNvSpPr/>
          <p:nvPr/>
        </p:nvSpPr>
        <p:spPr>
          <a:xfrm>
            <a:off x="8330184" y="3502152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410712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تقيس نتيجة أي تغيير</a:t>
            </a:r>
            <a:endParaRPr lang="ar-SA" sz="1400" dirty="0"/>
          </a:p>
        </p:txBody>
      </p:sp>
      <p:sp>
        <p:nvSpPr>
          <p:cNvPr id="14" name="Shape 12"/>
          <p:cNvSpPr/>
          <p:nvPr/>
        </p:nvSpPr>
        <p:spPr>
          <a:xfrm>
            <a:off x="8330184" y="3922776"/>
            <a:ext cx="128016" cy="128016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3831336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تتذكر ما جُرّب سابقًا</a:t>
            </a:r>
            <a:endParaRPr lang="ar-SA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1463040"/>
            <a:ext cx="4023360" cy="301752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16459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</a:t>
            </a:r>
            <a:endParaRPr lang="ar-SA" sz="1600" dirty="0"/>
          </a:p>
        </p:txBody>
      </p:sp>
      <p:sp>
        <p:nvSpPr>
          <p:cNvPr id="18" name="Shape 16"/>
          <p:cNvSpPr/>
          <p:nvPr/>
        </p:nvSpPr>
        <p:spPr>
          <a:xfrm>
            <a:off x="4123944" y="224028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2148840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فرصة اليوم، مرتبة بالأولوية</a:t>
            </a:r>
            <a:endParaRPr lang="ar-SA" sz="1400" dirty="0"/>
          </a:p>
        </p:txBody>
      </p:sp>
      <p:sp>
        <p:nvSpPr>
          <p:cNvPr id="20" name="Shape 18"/>
          <p:cNvSpPr/>
          <p:nvPr/>
        </p:nvSpPr>
        <p:spPr>
          <a:xfrm>
            <a:off x="4123944" y="2660904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2569464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السبب، مع الدليل من بيانات المتجر</a:t>
            </a:r>
            <a:endParaRPr lang="ar-SA" sz="1400" dirty="0"/>
          </a:p>
        </p:txBody>
      </p:sp>
      <p:sp>
        <p:nvSpPr>
          <p:cNvPr id="22" name="Shape 20"/>
          <p:cNvSpPr/>
          <p:nvPr/>
        </p:nvSpPr>
        <p:spPr>
          <a:xfrm>
            <a:off x="4123944" y="3081528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2990088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الإجراء المقترح، جاهز للتنفيذ</a:t>
            </a:r>
            <a:endParaRPr lang="ar-SA" sz="1400" dirty="0"/>
          </a:p>
        </p:txBody>
      </p:sp>
      <p:sp>
        <p:nvSpPr>
          <p:cNvPr id="24" name="Shape 22"/>
          <p:cNvSpPr/>
          <p:nvPr/>
        </p:nvSpPr>
        <p:spPr>
          <a:xfrm>
            <a:off x="4123944" y="3502152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410712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تقيس النتيجة الفعلية</a:t>
            </a:r>
            <a:endParaRPr lang="ar-SA" sz="1400" dirty="0"/>
          </a:p>
        </p:txBody>
      </p:sp>
      <p:sp>
        <p:nvSpPr>
          <p:cNvPr id="26" name="Shape 24"/>
          <p:cNvSpPr/>
          <p:nvPr/>
        </p:nvSpPr>
        <p:spPr>
          <a:xfrm>
            <a:off x="4123944" y="3922776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831336"/>
            <a:ext cx="329184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ذاكرة تجعل التوصية القادمة أذكى</a:t>
            </a:r>
            <a:endParaRPr lang="ar-SA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| NABD</a:t>
            </a:r>
            <a:endParaRPr lang="ar-SA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يعمل نبض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دورة نمو مستمرة: كل تجربة تجعل النظام يفهم المتجر أكثر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7733211" y="173736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3407" y="192755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504611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يراقب</a:t>
            </a:r>
            <a:endParaRPr lang="ar-SA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504611" y="2971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بيانات المتجر من سلة</a:t>
            </a:r>
            <a:endParaRPr lang="ar-SA" sz="11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415" y="1993392"/>
            <a:ext cx="219456" cy="21945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557554" y="173736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7749" y="1927555"/>
            <a:ext cx="351130" cy="35113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328954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يكتشف</a:t>
            </a:r>
            <a:endParaRPr lang="ar-SA" sz="1500" dirty="0"/>
          </a:p>
        </p:txBody>
      </p:sp>
      <p:sp>
        <p:nvSpPr>
          <p:cNvPr id="12" name="Text 7"/>
          <p:cNvSpPr txBox="1"/>
          <p:nvPr/>
        </p:nvSpPr>
        <p:spPr>
          <a:xfrm>
            <a:off x="6328954" y="2971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الفرص والمشاكل</a:t>
            </a:r>
            <a:endParaRPr lang="ar-SA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5758" y="1993392"/>
            <a:ext cx="219456" cy="219456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381897" y="173736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2092" y="1927555"/>
            <a:ext cx="351130" cy="35113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5153297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يشرح</a:t>
            </a:r>
            <a:endParaRPr lang="ar-SA" sz="1500" dirty="0"/>
          </a:p>
        </p:txBody>
      </p:sp>
      <p:sp>
        <p:nvSpPr>
          <p:cNvPr id="17" name="Text 10"/>
          <p:cNvSpPr txBox="1"/>
          <p:nvPr/>
        </p:nvSpPr>
        <p:spPr>
          <a:xfrm>
            <a:off x="5153297" y="2971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السبب بلغة بسيطة</a:t>
            </a:r>
            <a:endParaRPr lang="ar-SA" sz="11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0101" y="1993392"/>
            <a:ext cx="219456" cy="219456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4206240" y="173736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6435" y="1927555"/>
            <a:ext cx="351130" cy="351130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3977640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ينصح</a:t>
            </a:r>
            <a:endParaRPr lang="ar-SA" sz="1500" dirty="0"/>
          </a:p>
        </p:txBody>
      </p:sp>
      <p:sp>
        <p:nvSpPr>
          <p:cNvPr id="22" name="Text 13"/>
          <p:cNvSpPr txBox="1"/>
          <p:nvPr/>
        </p:nvSpPr>
        <p:spPr>
          <a:xfrm>
            <a:off x="3977640" y="2971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بإجراء محدد</a:t>
            </a:r>
            <a:endParaRPr lang="ar-SA" sz="11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4443" y="1993392"/>
            <a:ext cx="219456" cy="219456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3030583" y="173736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0778" y="1927555"/>
            <a:ext cx="351130" cy="35113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2801983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ينفّذ</a:t>
            </a:r>
            <a:endParaRPr lang="ar-SA" sz="1500" dirty="0"/>
          </a:p>
        </p:txBody>
      </p:sp>
      <p:sp>
        <p:nvSpPr>
          <p:cNvPr id="27" name="Text 16"/>
          <p:cNvSpPr txBox="1"/>
          <p:nvPr/>
        </p:nvSpPr>
        <p:spPr>
          <a:xfrm>
            <a:off x="2801983" y="2971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بضغطة</a:t>
            </a:r>
            <a:endParaRPr lang="ar-SA" sz="1100" dirty="0"/>
          </a:p>
        </p:txBody>
      </p:sp>
      <p:pic>
        <p:nvPicPr>
          <p:cNvPr id="2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698786" y="1993392"/>
            <a:ext cx="219456" cy="219456"/>
          </a:xfrm>
          <a:prstGeom prst="rect">
            <a:avLst/>
          </a:prstGeom>
        </p:spPr>
      </p:pic>
      <p:sp>
        <p:nvSpPr>
          <p:cNvPr id="29" name="Shape 17"/>
          <p:cNvSpPr/>
          <p:nvPr/>
        </p:nvSpPr>
        <p:spPr>
          <a:xfrm>
            <a:off x="1854926" y="173736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45121" y="1927555"/>
            <a:ext cx="351130" cy="351130"/>
          </a:xfrm>
          <a:prstGeom prst="rect">
            <a:avLst/>
          </a:prstGeom>
        </p:spPr>
      </p:pic>
      <p:sp>
        <p:nvSpPr>
          <p:cNvPr id="31" name="Text 18"/>
          <p:cNvSpPr txBox="1"/>
          <p:nvPr/>
        </p:nvSpPr>
        <p:spPr>
          <a:xfrm>
            <a:off x="1626326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يقيس</a:t>
            </a:r>
            <a:endParaRPr lang="ar-SA" sz="1500" dirty="0"/>
          </a:p>
        </p:txBody>
      </p:sp>
      <p:sp>
        <p:nvSpPr>
          <p:cNvPr id="32" name="Text 19"/>
          <p:cNvSpPr txBox="1"/>
          <p:nvPr/>
        </p:nvSpPr>
        <p:spPr>
          <a:xfrm>
            <a:off x="1626326" y="2971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النتيجة الفعلية</a:t>
            </a:r>
            <a:endParaRPr lang="ar-SA" sz="11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3129" y="1993392"/>
            <a:ext cx="219456" cy="219456"/>
          </a:xfrm>
          <a:prstGeom prst="rect">
            <a:avLst/>
          </a:prstGeom>
        </p:spPr>
      </p:pic>
      <p:sp>
        <p:nvSpPr>
          <p:cNvPr id="34" name="Shape 20"/>
          <p:cNvSpPr/>
          <p:nvPr/>
        </p:nvSpPr>
        <p:spPr>
          <a:xfrm>
            <a:off x="679269" y="1737360"/>
            <a:ext cx="731520" cy="731520"/>
          </a:xfrm>
          <a:prstGeom prst="ellipse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pic>
        <p:nvPicPr>
          <p:cNvPr id="3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9464" y="1927555"/>
            <a:ext cx="351130" cy="351130"/>
          </a:xfrm>
          <a:prstGeom prst="rect">
            <a:avLst/>
          </a:prstGeom>
        </p:spPr>
      </p:pic>
      <p:sp>
        <p:nvSpPr>
          <p:cNvPr id="36" name="Text 21"/>
          <p:cNvSpPr txBox="1"/>
          <p:nvPr/>
        </p:nvSpPr>
        <p:spPr>
          <a:xfrm>
            <a:off x="450669" y="26060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يتعلم</a:t>
            </a:r>
            <a:endParaRPr lang="ar-SA" sz="1500" dirty="0"/>
          </a:p>
        </p:txBody>
      </p:sp>
      <p:sp>
        <p:nvSpPr>
          <p:cNvPr id="37" name="Text 22"/>
          <p:cNvSpPr txBox="1"/>
          <p:nvPr/>
        </p:nvSpPr>
        <p:spPr>
          <a:xfrm>
            <a:off x="450669" y="297180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ويحفظها في الذاكرة</a:t>
            </a:r>
            <a:endParaRPr lang="ar-SA" sz="1100" dirty="0"/>
          </a:p>
        </p:txBody>
      </p:sp>
      <p:sp>
        <p:nvSpPr>
          <p:cNvPr id="38" name="Shape 23"/>
          <p:cNvSpPr/>
          <p:nvPr/>
        </p:nvSpPr>
        <p:spPr>
          <a:xfrm>
            <a:off x="914400" y="3840480"/>
            <a:ext cx="73152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24"/>
          <p:cNvSpPr txBox="1"/>
          <p:nvPr/>
        </p:nvSpPr>
        <p:spPr>
          <a:xfrm>
            <a:off x="1097280" y="396849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الأرقام تُحسب برمجيًا بدقة، والذكاء الاصطناعي يشرح فقط ولا يخترع أي رقم</a:t>
            </a:r>
            <a:endParaRPr lang="ar-SA" sz="1250" dirty="0"/>
          </a:p>
        </p:txBody>
      </p:sp>
      <p:sp>
        <p:nvSpPr>
          <p:cNvPr id="40" name="Text 25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| NABD</a:t>
            </a:r>
            <a:endParaRPr lang="ar-SA" sz="900" dirty="0"/>
          </a:p>
        </p:txBody>
      </p:sp>
      <p:sp>
        <p:nvSpPr>
          <p:cNvPr id="41" name="Text 26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مثال: ماذا يرى التاجر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فرصة حقيقية الشكل من بيانات متجر عطور (أرقام توضيحية)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3291840" y="141732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91840" y="1417320"/>
            <a:ext cx="5394960" cy="457200"/>
          </a:xfrm>
          <a:prstGeom prst="roundRect">
            <a:avLst>
              <a:gd name="adj" fmla="val 24000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520440" y="149961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أهم فرصة الآن  |  أولوية عالية</a:t>
            </a:r>
            <a:endParaRPr lang="ar-SA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20116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 عميلًا اشتروا قبل 2–4 أشهر ولم يعودوا</a:t>
            </a:r>
            <a:endParaRPr lang="ar-SA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468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لماذا؟ هذه الشريحة كانت تمثل 18% من الإيراد في الربع الماضي.</a:t>
            </a:r>
            <a:endParaRPr lang="ar-SA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الإجراء: رسالة + كوبون، مع مجموعة ضابطة 20% لا تستلم الرسالة</a:t>
            </a:r>
            <a:endParaRPr lang="ar-SA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الأثر المحتمل: 800 – 2,500 ريال/شهر (تقدير، وليس وعدًا)</a:t>
            </a:r>
            <a:endParaRPr lang="ar-SA" sz="1400" dirty="0"/>
          </a:p>
        </p:txBody>
      </p:sp>
      <p:sp>
        <p:nvSpPr>
          <p:cNvPr id="11" name="Shape 9"/>
          <p:cNvSpPr/>
          <p:nvPr/>
        </p:nvSpPr>
        <p:spPr>
          <a:xfrm>
            <a:off x="6675120" y="3749040"/>
            <a:ext cx="1783080" cy="45720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675120" y="3831336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ابدأ التجربة</a:t>
            </a:r>
            <a:endParaRPr lang="ar-SA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41732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0080" y="1600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بعد 14 يومًا</a:t>
            </a:r>
            <a:endParaRPr lang="ar-SA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1965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6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ar-SA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5603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عادوا للشراء ممن استلموا الرسالة</a:t>
            </a:r>
            <a:endParaRPr lang="ar-SA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9718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26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ar-SA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29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في المجموعة الضابطة</a:t>
            </a:r>
            <a:endParaRPr lang="ar-SA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158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+1,940 ريال مقاسة</a:t>
            </a:r>
            <a:endParaRPr lang="ar-SA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| NABD</a:t>
            </a:r>
            <a:endParaRPr lang="ar-SA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 داخل المنتج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واجهة بسيطة جدًا، وكل شاشة تجيب عن سؤال واحد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6062472" y="1463040"/>
            <a:ext cx="2624328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01000" y="164592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1759" y="177667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245352" y="171907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الرئيسية</a:t>
            </a:r>
            <a:endParaRPr lang="ar-SA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245352" y="219456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أرقام اليوم + أهم فرصة + تنبيه + مهمة اليوم</a:t>
            </a:r>
            <a:endParaRPr lang="ar-SA" sz="1150" dirty="0"/>
          </a:p>
        </p:txBody>
      </p:sp>
      <p:sp>
        <p:nvSpPr>
          <p:cNvPr id="9" name="Shape 6"/>
          <p:cNvSpPr/>
          <p:nvPr/>
        </p:nvSpPr>
        <p:spPr>
          <a:xfrm>
            <a:off x="3255264" y="1463040"/>
            <a:ext cx="2624328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93792" y="164592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4551" y="177667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38144" y="171907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الفرص</a:t>
            </a:r>
            <a:endParaRPr lang="ar-SA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38144" y="219456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قائمة مرتبة: الدليل، الأثر، الثقة، الجهد</a:t>
            </a:r>
            <a:endParaRPr lang="ar-SA" sz="1150" dirty="0"/>
          </a:p>
        </p:txBody>
      </p:sp>
      <p:sp>
        <p:nvSpPr>
          <p:cNvPr id="14" name="Shape 10"/>
          <p:cNvSpPr/>
          <p:nvPr/>
        </p:nvSpPr>
        <p:spPr>
          <a:xfrm>
            <a:off x="448056" y="1463040"/>
            <a:ext cx="2624328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386584" y="164592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7343" y="177667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30936" y="171907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التجارب</a:t>
            </a:r>
            <a:endParaRPr lang="ar-SA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" y="219456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فرضية، قياس قبل وبعد، ثم قرار</a:t>
            </a:r>
            <a:endParaRPr lang="ar-SA" sz="1150" dirty="0"/>
          </a:p>
        </p:txBody>
      </p:sp>
      <p:sp>
        <p:nvSpPr>
          <p:cNvPr id="19" name="Shape 14"/>
          <p:cNvSpPr/>
          <p:nvPr/>
        </p:nvSpPr>
        <p:spPr>
          <a:xfrm>
            <a:off x="6062472" y="3017520"/>
            <a:ext cx="2624328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01000" y="320040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1759" y="333115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245352" y="327355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ذاكرة المتجر</a:t>
            </a:r>
            <a:endParaRPr lang="ar-SA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245352" y="374904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سجل التغييرات والتجارب وما نجح وما فشل</a:t>
            </a:r>
            <a:endParaRPr lang="ar-SA" sz="1150" dirty="0"/>
          </a:p>
        </p:txBody>
      </p:sp>
      <p:sp>
        <p:nvSpPr>
          <p:cNvPr id="24" name="Shape 18"/>
          <p:cNvSpPr/>
          <p:nvPr/>
        </p:nvSpPr>
        <p:spPr>
          <a:xfrm>
            <a:off x="3255264" y="3017520"/>
            <a:ext cx="2624328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193792" y="320040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4551" y="333115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3438144" y="327355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التقرير الأسبوعي</a:t>
            </a:r>
            <a:endParaRPr lang="ar-SA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3438144" y="374904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ملخص مفهوم لغير التقني + خطة الأسبوع</a:t>
            </a:r>
            <a:endParaRPr lang="ar-SA" sz="1150" dirty="0"/>
          </a:p>
        </p:txBody>
      </p:sp>
      <p:sp>
        <p:nvSpPr>
          <p:cNvPr id="29" name="Shape 22"/>
          <p:cNvSpPr/>
          <p:nvPr/>
        </p:nvSpPr>
        <p:spPr>
          <a:xfrm>
            <a:off x="448056" y="3017520"/>
            <a:ext cx="2624328" cy="13716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386584" y="320040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17343" y="333115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30936" y="3273552"/>
            <a:ext cx="1664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الوكالات</a:t>
            </a:r>
            <a:endParaRPr lang="ar-SA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630936" y="3749040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مدير الحساب يرى كل متاجره وحالتها</a:t>
            </a:r>
            <a:endParaRPr lang="ar-SA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| NABD</a:t>
            </a:r>
            <a:endParaRPr lang="ar-SA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رحلة التاجر: من صفر طلب إلى متجر محترف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التاجر يتعلّم كطالب: 7 مراحل حسب عدد الطلبات، ولكل مرحلة مهام مع شرح ونقاط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1045029" y="1828800"/>
            <a:ext cx="7053943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24651" y="1554480"/>
            <a:ext cx="548640" cy="54864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24651" y="16824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ar-S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513755" y="224028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التأسيس</a:t>
            </a:r>
            <a:endParaRPr lang="ar-SA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513755" y="25603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قبل أول طلب</a:t>
            </a:r>
            <a:endParaRPr lang="ar-SA" sz="1000" dirty="0"/>
          </a:p>
        </p:txBody>
      </p:sp>
      <p:sp>
        <p:nvSpPr>
          <p:cNvPr id="9" name="Shape 7"/>
          <p:cNvSpPr/>
          <p:nvPr/>
        </p:nvSpPr>
        <p:spPr>
          <a:xfrm>
            <a:off x="6648994" y="1554480"/>
            <a:ext cx="548640" cy="54864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648994" y="16824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ar-SA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338098" y="224028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الطريق</a:t>
            </a:r>
            <a:endParaRPr lang="ar-SA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6338098" y="25603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– 10 طلب</a:t>
            </a:r>
            <a:endParaRPr lang="ar-SA" sz="1000" dirty="0"/>
          </a:p>
        </p:txBody>
      </p:sp>
      <p:sp>
        <p:nvSpPr>
          <p:cNvPr id="13" name="Shape 11"/>
          <p:cNvSpPr/>
          <p:nvPr/>
        </p:nvSpPr>
        <p:spPr>
          <a:xfrm>
            <a:off x="5473337" y="1554480"/>
            <a:ext cx="548640" cy="54864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73337" y="16824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ar-SA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162441" y="224028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بناء الثقة</a:t>
            </a:r>
            <a:endParaRPr lang="ar-SA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162441" y="25603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– 20 طلب</a:t>
            </a:r>
            <a:endParaRPr lang="ar-SA" sz="1000" dirty="0"/>
          </a:p>
        </p:txBody>
      </p:sp>
      <p:sp>
        <p:nvSpPr>
          <p:cNvPr id="17" name="Shape 15"/>
          <p:cNvSpPr/>
          <p:nvPr/>
        </p:nvSpPr>
        <p:spPr>
          <a:xfrm>
            <a:off x="4297680" y="1554480"/>
            <a:ext cx="548640" cy="54864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97680" y="16824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ar-SA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3986784" y="224028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الانتشار</a:t>
            </a:r>
            <a:endParaRPr lang="ar-SA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3986784" y="25603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– 50 طلب</a:t>
            </a:r>
            <a:endParaRPr lang="ar-SA" sz="1000" dirty="0"/>
          </a:p>
        </p:txBody>
      </p:sp>
      <p:sp>
        <p:nvSpPr>
          <p:cNvPr id="21" name="Shape 19"/>
          <p:cNvSpPr/>
          <p:nvPr/>
        </p:nvSpPr>
        <p:spPr>
          <a:xfrm>
            <a:off x="3122023" y="1554480"/>
            <a:ext cx="548640" cy="54864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122023" y="16824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ar-SA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2811127" y="224028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الثبات</a:t>
            </a:r>
            <a:endParaRPr lang="ar-SA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2811127" y="25603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– 100 طلب</a:t>
            </a:r>
            <a:endParaRPr lang="ar-SA" sz="1000" dirty="0"/>
          </a:p>
        </p:txBody>
      </p:sp>
      <p:sp>
        <p:nvSpPr>
          <p:cNvPr id="25" name="Shape 23"/>
          <p:cNvSpPr/>
          <p:nvPr/>
        </p:nvSpPr>
        <p:spPr>
          <a:xfrm>
            <a:off x="1946366" y="1554480"/>
            <a:ext cx="548640" cy="548640"/>
          </a:xfrm>
          <a:prstGeom prst="ellipse">
            <a:avLst/>
          </a:prstGeom>
          <a:solidFill>
            <a:srgbClr val="FACC1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946366" y="16824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ar-SA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635470" y="224028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 الذكي</a:t>
            </a:r>
            <a:endParaRPr lang="ar-SA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635470" y="25603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– 300 طلب</a:t>
            </a:r>
            <a:endParaRPr lang="ar-SA" sz="1000" dirty="0"/>
          </a:p>
        </p:txBody>
      </p:sp>
      <p:sp>
        <p:nvSpPr>
          <p:cNvPr id="29" name="Shape 27"/>
          <p:cNvSpPr/>
          <p:nvPr/>
        </p:nvSpPr>
        <p:spPr>
          <a:xfrm>
            <a:off x="770709" y="1554480"/>
            <a:ext cx="548640" cy="54864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0709" y="1682496"/>
            <a:ext cx="548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ar-SA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9813" y="2240280"/>
            <a:ext cx="1170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الاحتراف</a:t>
            </a:r>
            <a:endParaRPr lang="ar-SA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9813" y="2560320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300+ طلب</a:t>
            </a:r>
            <a:endParaRPr lang="ar-SA" sz="1000" dirty="0"/>
          </a:p>
        </p:txBody>
      </p:sp>
      <p:sp>
        <p:nvSpPr>
          <p:cNvPr id="33" name="Shape 31"/>
          <p:cNvSpPr/>
          <p:nvPr/>
        </p:nvSpPr>
        <p:spPr>
          <a:xfrm>
            <a:off x="6062472" y="3154680"/>
            <a:ext cx="26243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245352" y="329184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مهمة فيها</a:t>
            </a:r>
            <a:endParaRPr lang="ar-SA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245352" y="365760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ليش مهمة، وكيف تسويها بـ 3 خطوات، ونقاط</a:t>
            </a:r>
            <a:endParaRPr lang="ar-SA" sz="1150" dirty="0"/>
          </a:p>
        </p:txBody>
      </p:sp>
      <p:sp>
        <p:nvSpPr>
          <p:cNvPr id="36" name="Shape 34"/>
          <p:cNvSpPr/>
          <p:nvPr/>
        </p:nvSpPr>
        <p:spPr>
          <a:xfrm>
            <a:off x="3255264" y="3154680"/>
            <a:ext cx="26243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3438144" y="329184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أدلة سلة</a:t>
            </a:r>
            <a:endParaRPr lang="ar-SA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3438144" y="365760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خطوة بخطوة: وين تضغط بالضبط في لوحة سلة</a:t>
            </a:r>
            <a:endParaRPr lang="ar-SA" sz="1150" dirty="0"/>
          </a:p>
        </p:txBody>
      </p:sp>
      <p:sp>
        <p:nvSpPr>
          <p:cNvPr id="39" name="Shape 37"/>
          <p:cNvSpPr/>
          <p:nvPr/>
        </p:nvSpPr>
        <p:spPr>
          <a:xfrm>
            <a:off x="448056" y="3154680"/>
            <a:ext cx="2624328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30936" y="3291840"/>
            <a:ext cx="2258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100 طلب</a:t>
            </a:r>
            <a:endParaRPr lang="ar-SA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630936" y="3657600"/>
            <a:ext cx="225856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يفتح «نبض الذكي»: الفرص والتجارب</a:t>
            </a:r>
            <a:endParaRPr lang="ar-SA" sz="1150" dirty="0"/>
          </a:p>
        </p:txBody>
      </p:sp>
      <p:sp>
        <p:nvSpPr>
          <p:cNvPr id="42" name="Text 40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| NABD</a:t>
            </a:r>
            <a:endParaRPr lang="ar-SA" sz="900" dirty="0"/>
          </a:p>
        </p:txBody>
      </p:sp>
      <p:sp>
        <p:nvSpPr>
          <p:cNvPr id="43" name="Text 41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السوق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نبدأ بسلة، أكبر منصة تجارة إلكترونية في السعودية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6062472" y="1463040"/>
            <a:ext cx="2624328" cy="155448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245352" y="169164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ألف+</a:t>
            </a:r>
            <a:endParaRPr lang="ar-SA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245352" y="23774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تاجر نشط على سلة</a:t>
            </a:r>
            <a:endParaRPr lang="ar-SA" sz="1200" dirty="0"/>
          </a:p>
        </p:txBody>
      </p:sp>
      <p:sp>
        <p:nvSpPr>
          <p:cNvPr id="7" name="Shape 5"/>
          <p:cNvSpPr/>
          <p:nvPr/>
        </p:nvSpPr>
        <p:spPr>
          <a:xfrm>
            <a:off x="3255264" y="1463040"/>
            <a:ext cx="2624328" cy="155448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38144" y="169164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مليار $+</a:t>
            </a:r>
            <a:endParaRPr lang="ar-SA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38144" y="23774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مبيعات عبر المنصة</a:t>
            </a:r>
            <a:endParaRPr lang="ar-SA" sz="1200" dirty="0"/>
          </a:p>
        </p:txBody>
      </p:sp>
      <p:sp>
        <p:nvSpPr>
          <p:cNvPr id="10" name="Shape 8"/>
          <p:cNvSpPr/>
          <p:nvPr/>
        </p:nvSpPr>
        <p:spPr>
          <a:xfrm>
            <a:off x="448056" y="1463040"/>
            <a:ext cx="2624328" cy="1554480"/>
          </a:xfrm>
          <a:prstGeom prst="roundRect">
            <a:avLst>
              <a:gd name="adj" fmla="val 7059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30936" y="1691640"/>
            <a:ext cx="22585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مراحل</a:t>
            </a:r>
            <a:endParaRPr lang="ar-SA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0936" y="23774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نخدم التاجر من صفر طلب</a:t>
            </a:r>
            <a:endParaRPr lang="ar-SA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العميل المستهدف: كل تاجر في سلة، من المتجر الجديد بصفر طلب إلى المتجر الكبير.</a:t>
            </a:r>
            <a:endParaRPr lang="ar-SA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الفكرة مُثبتة عالميًا: شوبيفاي أطلقت ميزة مشابهة (Sidekick Pulse) في ديسمبر 2025. لا يوجد منتج مماثل مبني لسلة وللسوق السعودي.</a:t>
            </a:r>
            <a:endParaRPr lang="ar-SA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المصدر: صفحة سلة الرسمية 2025.</a:t>
            </a:r>
            <a:endParaRPr lang="ar-SA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| NABD</a:t>
            </a:r>
            <a:endParaRPr lang="ar-SA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نبض مختلف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التوصيات وحدها ستصبح مجانية. ميزتنا فيما لا يُنسخ بسهولة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4663440" y="14630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0" y="169164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6039" y="1822399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89204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التجارب والذاكرة</a:t>
            </a:r>
            <a:endParaRPr lang="ar-SA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892040" y="2148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تجربة منتهية بيانات خاصة بالمتجر لا يملكها غيرنا، وتجعل النصيحة القادمة أدق</a:t>
            </a:r>
            <a:endParaRPr lang="ar-SA" sz="1150" dirty="0"/>
          </a:p>
        </p:txBody>
      </p:sp>
      <p:sp>
        <p:nvSpPr>
          <p:cNvPr id="9" name="Shape 6"/>
          <p:cNvSpPr/>
          <p:nvPr/>
        </p:nvSpPr>
        <p:spPr>
          <a:xfrm>
            <a:off x="457200" y="14630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749040" y="169164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799" y="18223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85800" y="17373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قناة الوكالات</a:t>
            </a:r>
            <a:endParaRPr lang="ar-SA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85800" y="21488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لوحة لمدير الحساب تجعل نبض أداة عمل يومية للوكالات مثل خبراء المنصات</a:t>
            </a:r>
            <a:endParaRPr lang="ar-SA" sz="1150" dirty="0"/>
          </a:p>
        </p:txBody>
      </p:sp>
      <p:sp>
        <p:nvSpPr>
          <p:cNvPr id="14" name="Shape 10"/>
          <p:cNvSpPr/>
          <p:nvPr/>
        </p:nvSpPr>
        <p:spPr>
          <a:xfrm>
            <a:off x="4663440" y="30632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955280" y="329184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6039" y="342259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89204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مقارنات سعودية</a:t>
            </a:r>
            <a:endParaRPr lang="ar-SA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4892040" y="3749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أداء المتجر بمتاجر مشابهة في نفس الفئة داخل السوق السعودي</a:t>
            </a:r>
            <a:endParaRPr lang="ar-SA" sz="1150" dirty="0"/>
          </a:p>
        </p:txBody>
      </p:sp>
      <p:sp>
        <p:nvSpPr>
          <p:cNvPr id="19" name="Shape 14"/>
          <p:cNvSpPr/>
          <p:nvPr/>
        </p:nvSpPr>
        <p:spPr>
          <a:xfrm>
            <a:off x="457200" y="3063240"/>
            <a:ext cx="402336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749040" y="3291840"/>
            <a:ext cx="502920" cy="502920"/>
          </a:xfrm>
          <a:prstGeom prst="ellipse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9799" y="342259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85800" y="3337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سياق محلي</a:t>
            </a:r>
            <a:endParaRPr lang="ar-SA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685800" y="3749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يوم الراتب، رمضان، العيد، اليوم الوطني، الجمعة البيضاء، الدفع عند الاستلام</a:t>
            </a:r>
            <a:endParaRPr lang="ar-SA" sz="1150" dirty="0"/>
          </a:p>
        </p:txBody>
      </p:sp>
      <p:sp>
        <p:nvSpPr>
          <p:cNvPr id="24" name="Text 18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| NABD</a:t>
            </a:r>
            <a:endParaRPr lang="ar-SA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الباقات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باقة تضيف أدوات جديدة. التاجر يبدأ مجانًا ويترقّى لما يكبر متجره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6766560" y="137160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90372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المجانية</a:t>
            </a:r>
            <a:endParaRPr lang="ar-SA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90372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ar-SA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ريال شهريًا</a:t>
            </a:r>
            <a:endParaRPr lang="ar-SA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2788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المرحلتان 1 و2 من الرحلة</a:t>
            </a:r>
            <a:endParaRPr lang="ar-SA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3200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أدلة سلة</a:t>
            </a:r>
            <a:endParaRPr lang="ar-SA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903720" y="36118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النقاط والشارات</a:t>
            </a:r>
            <a:endParaRPr lang="ar-SA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الأساسية</a:t>
            </a:r>
            <a:endParaRPr lang="ar-SA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ar-SA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480060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ريال شهريًا</a:t>
            </a:r>
            <a:endParaRPr lang="ar-SA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2788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مراحل الرحلة وكل الأدلة</a:t>
            </a:r>
            <a:endParaRPr lang="ar-SA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200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صانع محتوى: 20 منشورًا</a:t>
            </a:r>
            <a:endParaRPr lang="ar-SA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4800600" y="36118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تقويم المواسم + تقرير أسبوعي</a:t>
            </a:r>
            <a:endParaRPr lang="ar-SA" sz="1050" dirty="0"/>
          </a:p>
        </p:txBody>
      </p:sp>
      <p:sp>
        <p:nvSpPr>
          <p:cNvPr id="18" name="Shape 16"/>
          <p:cNvSpPr/>
          <p:nvPr/>
        </p:nvSpPr>
        <p:spPr>
          <a:xfrm>
            <a:off x="2560320" y="137160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69748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النمو</a:t>
            </a:r>
            <a:endParaRPr lang="ar-SA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269748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ar-SA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269748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ريال شهريًا</a:t>
            </a:r>
            <a:endParaRPr lang="ar-SA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697480" y="2788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تسويقية شهرية كاملة</a:t>
            </a:r>
            <a:endParaRPr lang="ar-SA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2697480" y="3200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مراقبة السوشيال والمتجر</a:t>
            </a:r>
            <a:endParaRPr lang="ar-SA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2697480" y="36118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«سوّها لي» + نبض الذكي</a:t>
            </a:r>
            <a:endParaRPr lang="ar-SA" sz="1050" dirty="0"/>
          </a:p>
        </p:txBody>
      </p:sp>
      <p:sp>
        <p:nvSpPr>
          <p:cNvPr id="25" name="Shape 23"/>
          <p:cNvSpPr/>
          <p:nvPr/>
        </p:nvSpPr>
        <p:spPr>
          <a:xfrm>
            <a:off x="3017520" y="1207008"/>
            <a:ext cx="1005840" cy="274320"/>
          </a:xfrm>
          <a:prstGeom prst="roundRect">
            <a:avLst>
              <a:gd name="adj" fmla="val 26667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017520" y="12435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9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الأنسب للأغلب</a:t>
            </a:r>
            <a:endParaRPr lang="ar-SA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1371600"/>
            <a:ext cx="1920240" cy="274320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1508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الاحترافية</a:t>
            </a:r>
            <a:endParaRPr lang="ar-SA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18745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340</a:t>
            </a:r>
            <a:endParaRPr lang="ar-SA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2423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ريال شهريًا</a:t>
            </a:r>
            <a:endParaRPr lang="ar-SA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278892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محتوى غير محدود</a:t>
            </a:r>
            <a:endParaRPr lang="ar-SA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94360" y="32004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تنبيهات يومية + 10 أعضاء</a:t>
            </a:r>
            <a:endParaRPr lang="ar-SA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594360" y="361188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جلسة شهرية مع خبير</a:t>
            </a:r>
            <a:endParaRPr lang="ar-SA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الوكالات: 99 ريال لكل متجر (10 متاجر فأكثر). الاشتراك عبر متجر تطبيقات سلة.</a:t>
            </a:r>
            <a:endParaRPr lang="ar-SA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| NABD</a:t>
            </a:r>
            <a:endParaRPr lang="ar-SA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الخطة: 90 يومًا حتى الإطلاق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 مرحلة لها شرط نجاح قبل الانتقال للتالية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1280160" y="1874520"/>
            <a:ext cx="65836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8392" y="1719072"/>
            <a:ext cx="310896" cy="310896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08660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1–2</a:t>
            </a:r>
            <a:endParaRPr lang="ar-SA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708660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التحقق</a:t>
            </a:r>
            <a:endParaRPr lang="ar-SA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26060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تقارير يدوية لـ 10 متاجر. هل ينفذون؟ هل سيدفعون؟</a:t>
            </a:r>
            <a:endParaRPr lang="ar-SA" sz="1100" dirty="0"/>
          </a:p>
        </p:txBody>
      </p:sp>
      <p:sp>
        <p:nvSpPr>
          <p:cNvPr id="9" name="Shape 7"/>
          <p:cNvSpPr/>
          <p:nvPr/>
        </p:nvSpPr>
        <p:spPr>
          <a:xfrm>
            <a:off x="6062472" y="1719072"/>
            <a:ext cx="310896" cy="310896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4068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3–5</a:t>
            </a:r>
            <a:endParaRPr lang="ar-SA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44068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أساس البيانات</a:t>
            </a:r>
            <a:endParaRPr lang="ar-SA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40680" y="26060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الربط مع سلة، واستيراد البيانات، ومطابقة الأرقام</a:t>
            </a:r>
            <a:endParaRPr lang="ar-SA" sz="1100" dirty="0"/>
          </a:p>
        </p:txBody>
      </p:sp>
      <p:sp>
        <p:nvSpPr>
          <p:cNvPr id="13" name="Shape 11"/>
          <p:cNvSpPr/>
          <p:nvPr/>
        </p:nvSpPr>
        <p:spPr>
          <a:xfrm>
            <a:off x="4416552" y="1719072"/>
            <a:ext cx="310896" cy="310896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9476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6–8</a:t>
            </a:r>
            <a:endParaRPr lang="ar-SA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79476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محرك الفرص</a:t>
            </a:r>
            <a:endParaRPr lang="ar-SA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794760" y="26060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اكتشاف الفرص، الشرح، والواجهة الأولى</a:t>
            </a:r>
            <a:endParaRPr lang="ar-SA" sz="1100" dirty="0"/>
          </a:p>
        </p:txBody>
      </p:sp>
      <p:sp>
        <p:nvSpPr>
          <p:cNvPr id="17" name="Shape 15"/>
          <p:cNvSpPr/>
          <p:nvPr/>
        </p:nvSpPr>
        <p:spPr>
          <a:xfrm>
            <a:off x="2770632" y="1719072"/>
            <a:ext cx="310896" cy="310896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14884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9–11</a:t>
            </a:r>
            <a:endParaRPr lang="ar-SA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الحلقة كاملة</a:t>
            </a:r>
            <a:endParaRPr lang="ar-SA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2148840" y="26060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التجارب، التقرير الأسبوعي، لوحة الوكالات، تجربة مغلقة لـ 30 متجرًا</a:t>
            </a:r>
            <a:endParaRPr lang="ar-SA" sz="1100" dirty="0"/>
          </a:p>
        </p:txBody>
      </p:sp>
      <p:sp>
        <p:nvSpPr>
          <p:cNvPr id="21" name="Shape 19"/>
          <p:cNvSpPr/>
          <p:nvPr/>
        </p:nvSpPr>
        <p:spPr>
          <a:xfrm>
            <a:off x="1124712" y="1719072"/>
            <a:ext cx="310896" cy="310896"/>
          </a:xfrm>
          <a:prstGeom prst="ellipse">
            <a:avLst/>
          </a:prstGeom>
          <a:solidFill>
            <a:srgbClr val="FACC1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" y="1325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أسبوع 12–13</a:t>
            </a:r>
            <a:endParaRPr lang="ar-SA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2194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الإطلاق</a:t>
            </a:r>
            <a:endParaRPr lang="ar-SA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260604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النشر في متجر تطبيقات سلة</a:t>
            </a:r>
            <a:endParaRPr lang="ar-SA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04164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A162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شرط البداية: إذا لم ينفذ 3 من كل 10 متاجر توصية واحدة على الأقل، نراجع القيمة قبل كتابة الكود</a:t>
            </a:r>
            <a:endParaRPr lang="ar-SA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| NABD</a:t>
            </a:r>
            <a:endParaRPr lang="ar-SA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الوصول لأول 100 متجر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نبدأ من قناة الوكالات لأنها الأسرع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6766560" y="146304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90372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ar-SA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90372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شركاء التصميم</a:t>
            </a:r>
            <a:endParaRPr lang="ar-S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2743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من عملاء خبراء المنصات، مجانًا مقابل ملاحظات أسبوعية</a:t>
            </a:r>
            <a:endParaRPr lang="ar-SA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6304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80060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</a:t>
            </a:r>
            <a:endParaRPr lang="ar-SA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تجربة مغلقة</a:t>
            </a:r>
            <a:endParaRPr lang="ar-SA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743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محفظة الوكالة وإحالات الشركاء الأوائل</a:t>
            </a:r>
            <a:endParaRPr lang="ar-SA" sz="1100" dirty="0"/>
          </a:p>
        </p:txBody>
      </p:sp>
      <p:sp>
        <p:nvSpPr>
          <p:cNvPr id="12" name="Shape 10"/>
          <p:cNvSpPr/>
          <p:nvPr/>
        </p:nvSpPr>
        <p:spPr>
          <a:xfrm>
            <a:off x="2560320" y="146304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269748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30–40</a:t>
            </a:r>
            <a:endParaRPr lang="ar-SA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متجر تطبيقات سلة</a:t>
            </a:r>
            <a:endParaRPr lang="ar-SA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697480" y="2743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صفحة عربية قوية ولقطات لفرص حقيقية</a:t>
            </a:r>
            <a:endParaRPr lang="ar-SA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463040"/>
            <a:ext cx="1920240" cy="2286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94360" y="1645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3000" b="1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</a:t>
            </a:r>
            <a:endParaRPr lang="ar-SA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وكالات أخرى</a:t>
            </a:r>
            <a:endParaRPr lang="ar-SA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274320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ar-SA" alt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حساب وكالة مجاني لأول 3 أشهر</a:t>
            </a:r>
            <a:endParaRPr lang="ar-SA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أول إيراد: عقد مع الوكالة تبيع فيه "متابعة نمو شهرية" لعملائها، وتدفع لنبض لكل متجر. الهدف 15–25 متجرًا مدفوعًا قبل الإطلاق العام.</a:t>
            </a:r>
            <a:endParaRPr lang="ar-SA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| NABD</a:t>
            </a:r>
            <a:endParaRPr lang="ar-SA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المخاطر وكيف نتعامل معها</a:t>
            </a:r>
            <a:endParaRPr lang="ar-SA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نعرفها من الآن حتى لا تفاجئنا</a:t>
            </a:r>
            <a:endParaRPr lang="ar-SA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75320" y="1618488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93776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سلة قد تبني ميزة مشابهة</a:t>
            </a:r>
            <a:endParaRPr lang="ar-SA" sz="13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618488"/>
            <a:ext cx="256032" cy="25603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153619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نركز على التجارب والذاكرة والوكالات، ونكون شريكًا في متجر التطبيقات</a:t>
            </a:r>
            <a:endParaRPr lang="ar-SA" sz="1150" dirty="0"/>
          </a:p>
        </p:txBody>
      </p:sp>
      <p:sp>
        <p:nvSpPr>
          <p:cNvPr id="9" name="Shape 5"/>
          <p:cNvSpPr/>
          <p:nvPr/>
        </p:nvSpPr>
        <p:spPr>
          <a:xfrm>
            <a:off x="457200" y="21945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320" y="239572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93776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يتحول المنتج إلى لوحة أرقام أخرى</a:t>
            </a:r>
            <a:endParaRPr lang="ar-SA" sz="13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280" y="239572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640080" y="231343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 رقم في الرئيسية بدون إجراء مرتبط به. نقيس الإجراءات المنفذة لا الزيارات</a:t>
            </a:r>
            <a:endParaRPr lang="ar-SA" sz="1150" dirty="0"/>
          </a:p>
        </p:txBody>
      </p:sp>
      <p:sp>
        <p:nvSpPr>
          <p:cNvPr id="14" name="Shape 8"/>
          <p:cNvSpPr/>
          <p:nvPr/>
        </p:nvSpPr>
        <p:spPr>
          <a:xfrm>
            <a:off x="457200" y="297180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75320" y="3172968"/>
            <a:ext cx="256032" cy="25603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4937760" y="3154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سلة لا توفر بيانات الزيارات</a:t>
            </a:r>
            <a:endParaRPr lang="ar-SA" sz="135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3172968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640080" y="309067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أداة قياس خفيفة في المتجر، أو ربط Google Analytics</a:t>
            </a:r>
            <a:endParaRPr lang="ar-SA" sz="1150" dirty="0"/>
          </a:p>
        </p:txBody>
      </p:sp>
      <p:sp>
        <p:nvSpPr>
          <p:cNvPr id="19" name="Shape 11"/>
          <p:cNvSpPr/>
          <p:nvPr/>
        </p:nvSpPr>
        <p:spPr>
          <a:xfrm>
            <a:off x="457200" y="374904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75320" y="3950208"/>
            <a:ext cx="256032" cy="25603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493776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3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المتاجر الصغيرة بياناتها قليلة</a:t>
            </a:r>
            <a:endParaRPr lang="ar-SA" sz="135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6280" y="3950208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 txBox="1"/>
          <p:nvPr/>
        </p:nvSpPr>
        <p:spPr>
          <a:xfrm>
            <a:off x="640080" y="3867912"/>
            <a:ext cx="3794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حد أدنى للبيانات، ونقول بصراحة: "البيانات لا تكفي بعد"</a:t>
            </a:r>
            <a:endParaRPr lang="ar-SA" sz="1150" dirty="0"/>
          </a:p>
        </p:txBody>
      </p:sp>
      <p:sp>
        <p:nvSpPr>
          <p:cNvPr id="24" name="Text 14"/>
          <p:cNvSpPr txBox="1"/>
          <p:nvPr/>
        </p:nvSpPr>
        <p:spPr>
          <a:xfrm>
            <a:off x="6858000" y="4754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نبض | NABD</a:t>
            </a:r>
            <a:endParaRPr lang="ar-SA" sz="900" dirty="0"/>
          </a:p>
        </p:txBody>
      </p:sp>
      <p:sp>
        <p:nvSpPr>
          <p:cNvPr id="25" name="Text 15"/>
          <p:cNvSpPr txBox="1"/>
          <p:nvPr/>
        </p:nvSpPr>
        <p:spPr>
          <a:xfrm>
            <a:off x="457200" y="475488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548640"/>
            <a:ext cx="731520" cy="7315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4035" y="738835"/>
            <a:ext cx="351130" cy="35113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6400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الخطوات التالية</a:t>
            </a:r>
            <a:endParaRPr lang="ar-SA" sz="3200" dirty="0"/>
          </a:p>
        </p:txBody>
      </p:sp>
      <p:sp>
        <p:nvSpPr>
          <p:cNvPr id="5" name="Shape 2"/>
          <p:cNvSpPr/>
          <p:nvPr/>
        </p:nvSpPr>
        <p:spPr>
          <a:xfrm>
            <a:off x="8467344" y="1691640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16002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فتح حساب شركاء في سلة والتحقق من البيانات المتاحة</a:t>
            </a:r>
            <a:endParaRPr lang="ar-SA" sz="1600" dirty="0"/>
          </a:p>
        </p:txBody>
      </p:sp>
      <p:sp>
        <p:nvSpPr>
          <p:cNvPr id="7" name="Shape 4"/>
          <p:cNvSpPr/>
          <p:nvPr/>
        </p:nvSpPr>
        <p:spPr>
          <a:xfrm>
            <a:off x="8467344" y="2194560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14400" y="21031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10 متاجر من عملاء خبراء المنصات كشركاء تصميم</a:t>
            </a:r>
            <a:endParaRPr lang="ar-SA" sz="1600" dirty="0"/>
          </a:p>
        </p:txBody>
      </p:sp>
      <p:sp>
        <p:nvSpPr>
          <p:cNvPr id="9" name="Shape 6"/>
          <p:cNvSpPr/>
          <p:nvPr/>
        </p:nvSpPr>
        <p:spPr>
          <a:xfrm>
            <a:off x="8467344" y="2697480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14400" y="26060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تسليم تقارير نمو يدوية لمدة 3 أسابيع لقياس الاهتمام والاستعداد للدفع</a:t>
            </a:r>
            <a:endParaRPr lang="ar-SA" sz="1600" dirty="0"/>
          </a:p>
        </p:txBody>
      </p:sp>
      <p:sp>
        <p:nvSpPr>
          <p:cNvPr id="11" name="Shape 8"/>
          <p:cNvSpPr/>
          <p:nvPr/>
        </p:nvSpPr>
        <p:spPr>
          <a:xfrm>
            <a:off x="8467344" y="3200400"/>
            <a:ext cx="128016" cy="128016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14400" y="31089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6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قرار البدء في البناء بناءً على النتيجة</a:t>
            </a:r>
            <a:endParaRPr lang="ar-SA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39319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ar-SA" altLang="en-US" sz="1400" i="1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"هل ساعد نبض التاجر على اتخاذ قرار أفضل بناءً على بيانات متجره؟" هذا هو مقياس النجاح.</a:t>
            </a:r>
            <a:endParaRPr lang="ar-SA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نبض — فكرة المنتج</dc:title>
  <dc:subject>PptxGenJS Presentation</dc:subject>
  <dc:creator>PptxGenJS</dc:creator>
  <cp:lastModifiedBy>PptxGenJS</cp:lastModifiedBy>
  <cp:revision>1</cp:revision>
  <dcterms:created xsi:type="dcterms:W3CDTF">2026-09-27T17:42:40Z</dcterms:created>
  <dcterms:modified xsi:type="dcterms:W3CDTF">2026-09-27T17:42:40Z</dcterms:modified>
</cp:coreProperties>
</file>